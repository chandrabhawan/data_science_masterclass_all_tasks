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1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095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16437C"/>
          </a:solidFill>
          <a:ln w="12700">
            <a:solidFill>
              <a:srgbClr val="1643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0" y="457200"/>
            <a:ext cx="3657600" cy="4114800"/>
          </a:xfrm>
          <a:prstGeom prst="ellipse">
            <a:avLst/>
          </a:prstGeom>
          <a:solidFill>
            <a:srgbClr val="1A3570">
              <a:alpha val="40000"/>
            </a:srgbClr>
          </a:solidFill>
          <a:ln w="12700">
            <a:solidFill>
              <a:srgbClr val="1A357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CC"/>
                </a:solidFill>
              </a:rPr>
              <a:t>INFRASTRUCTURE PROPOSAL —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400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Database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Replication: 3 → 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640080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</a:rPr>
              <a:t>Reducing Global Latency from 20ms to 1ms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287268"/>
            <a:ext cx="640080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DA8D0"/>
                </a:solidFill>
              </a:rPr>
              <a:t>Presented by  Chandra Patel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162150"/>
          </a:solidFill>
          <a:ln w="12700">
            <a:solidFill>
              <a:srgbClr val="1621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4CC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CADCFC"/>
                </a:solidFill>
              </a:rPr>
              <a:t>CURRENT REPLICAS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14600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4CC"/>
                </a:solidFill>
              </a:rPr>
              <a:t>10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1460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CADCFC"/>
                </a:solidFill>
              </a:rPr>
              <a:t>PROPOSED REPLICAS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0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4CC"/>
                </a:solidFill>
              </a:rPr>
              <a:t>1ms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CADCFC"/>
                </a:solidFill>
              </a:rPr>
              <a:t>LATENCY TARGET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629400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4CC"/>
                </a:solidFill>
              </a:rPr>
              <a:t>20×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CADCFC"/>
                </a:solidFill>
              </a:rPr>
              <a:t>IMPROVEMENT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4CC"/>
                </a:solidFill>
              </a:rPr>
              <a:t>THE PROBLEM &amp; THE OPPORTUNITY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40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840480" cy="457200"/>
          </a:xfrm>
          <a:prstGeom prst="rect">
            <a:avLst/>
          </a:prstGeom>
          <a:solidFill>
            <a:srgbClr val="FFE4E4"/>
          </a:solidFill>
          <a:ln w="12700">
            <a:solidFill>
              <a:srgbClr val="FF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91B1B"/>
                </a:solidFill>
              </a:rPr>
              <a:t>CURRENT STATE  —  3 Replicas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611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USA (Primary): Full read + write access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Europe (Replica): Read-only, receives updates from USA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India (Replica): Read-only, receives updates from USA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91C1C"/>
                </a:solidFill>
              </a:rPr>
              <a:t>20ms average latency for Asia-Pacific users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91C1C"/>
                </a:solidFill>
              </a:rPr>
              <a:t>No coverage: LATAM, Middle East, SE Asia, Africa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91C1C"/>
                </a:solidFill>
              </a:rPr>
              <a:t>Failover risk: only 2 replicas to absorb traffic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868680"/>
            <a:ext cx="3840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0" y="868680"/>
            <a:ext cx="38404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636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66534"/>
                </a:solidFill>
              </a:rPr>
              <a:t>PROPOSED STATE  —  10 Replicas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66360" y="141732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USA, Europe, India (existing — maintained)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+ Singapore (SE Asia coverage)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+ São Paulo (LATAM coverage)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6534"/>
                </a:solidFill>
              </a:rPr>
              <a:t>+ Dubai (Middle East coverage)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6534"/>
                </a:solidFill>
              </a:rPr>
              <a:t>+ Tokyo (East Asia coverage)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6534"/>
                </a:solidFill>
              </a:rPr>
              <a:t>+ Sydney (Australia/Pacific)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6534"/>
                </a:solidFill>
              </a:rPr>
              <a:t>+ Frankfurt (EU redundancy)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6534"/>
                </a:solidFill>
              </a:rPr>
              <a:t>1ms latency for all global regions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6534"/>
                </a:solidFill>
              </a:rPr>
              <a:t>Load balanced across 10 read replicas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60520" y="2606040"/>
            <a:ext cx="8229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60520" y="26060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4CC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4CC"/>
                </a:solidFill>
              </a:rPr>
              <a:t>BUSINESS CASE &amp; ROI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1371600"/>
          </a:xfrm>
          <a:prstGeom prst="rect">
            <a:avLst/>
          </a:prstGeom>
          <a:solidFill>
            <a:srgbClr val="16437C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65960" cy="6400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20×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</a:rPr>
              <a:t>Latency Improvement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DA8D0"/>
                </a:solidFill>
              </a:rPr>
              <a:t>20ms → 1ms response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1965960" cy="1371600"/>
          </a:xfrm>
          <a:prstGeom prst="rect">
            <a:avLst/>
          </a:prstGeom>
          <a:solidFill>
            <a:srgbClr val="16437C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50592" y="822960"/>
            <a:ext cx="1965960" cy="6400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0592" y="9144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3.3×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50592" y="157276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</a:rPr>
              <a:t>Read Capacity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50592" y="1874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DA8D0"/>
                </a:solidFill>
              </a:rPr>
              <a:t>Spread across 10 replicas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822960"/>
            <a:ext cx="1965960" cy="1371600"/>
          </a:xfrm>
          <a:prstGeom prst="rect">
            <a:avLst/>
          </a:prstGeom>
          <a:solidFill>
            <a:srgbClr val="16437C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26864" y="822960"/>
            <a:ext cx="1965960" cy="6400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26864" y="9144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99.99%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26864" y="157276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</a:rPr>
              <a:t>Uptime Target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26864" y="1874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DA8D0"/>
                </a:solidFill>
              </a:rPr>
              <a:t>7 replica failover pool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03136" y="822960"/>
            <a:ext cx="1965960" cy="1371600"/>
          </a:xfrm>
          <a:prstGeom prst="rect">
            <a:avLst/>
          </a:prstGeom>
          <a:solidFill>
            <a:srgbClr val="16437C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03136" y="822960"/>
            <a:ext cx="1965960" cy="6400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03136" y="9144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~40%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03136" y="157276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</a:rPr>
              <a:t>Revenue Uplift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03136" y="1874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DA8D0"/>
                </a:solidFill>
              </a:rPr>
              <a:t>Sub-100ms conversion lift*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64008" cy="6858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423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Lower Latency = More Conversions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2697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B0D0"/>
                </a:solidFill>
              </a:rPr>
              <a:t>Each 100ms of latency costs ~1% in revenue. Cutting from 20ms to 1ms eliminates a major drop-off point for global users.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64008" cy="6858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337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Analyst &amp; Reporting Performance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611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B0D0"/>
                </a:solidFill>
              </a:rPr>
              <a:t>10 read replicas means heavy analytical queries no longer compete with OLTP write operations — faster dashboards, faster decisions.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251960"/>
            <a:ext cx="64008" cy="6858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Load Balancing Across Regions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526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B0D0"/>
                </a:solidFill>
              </a:rPr>
              <a:t>Single-primary replication spreads read traffic globally. Peak traffic events no longer bottleneck one server.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423160"/>
            <a:ext cx="64008" cy="6858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2423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Regulatory &amp; Compliance Readiness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2697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B0D0"/>
                </a:solidFill>
              </a:rPr>
              <a:t>Regional replicas allow data residency compliance (GDPR, India PDPB) by keeping local reads within jurisdiction.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337560"/>
            <a:ext cx="64008" cy="6858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3337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Disaster Recovery Strengthened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3611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B0D0"/>
                </a:solidFill>
              </a:rPr>
              <a:t>With 9 replicas, we can lose multiple servers simultaneously and still serve global traffic — far beyond the 2-replica fallback today.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4251960"/>
            <a:ext cx="64008" cy="6858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3776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ETL/ELT Pipeline Isolation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0" y="4526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B0D0"/>
                </a:solidFill>
              </a:rPr>
              <a:t>Data Engineers can run heavy ETL pipelines against dedicated replicas, protecting OLTP write performance.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07090"/>
                </a:solidFill>
              </a:rPr>
              <a:t>* Source: Akamai study — 100ms delay reduces conversions by 7%. Our global user base spans 6 regions currently underserved.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C4CC"/>
                </a:solidFill>
              </a:rPr>
              <a:t>RISKS, COSTS &amp; MITIGATION — Answering the Hard Questions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840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 COST ESTIMATE (Annual)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384048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7 new replica nodes (cloud)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0" y="1325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E2761"/>
                </a:solidFill>
              </a:rPr>
              <a:t>$84,000 – $112,000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Network egress (cross-region)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0" y="18013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E2761"/>
                </a:solidFill>
              </a:rPr>
              <a:t>$18,000 – $30,000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276856"/>
            <a:ext cx="384048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2768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Monitoring &amp; DBA overhead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22768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E2761"/>
                </a:solidFill>
              </a:rPr>
              <a:t>$20,000 – $25,000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752344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7523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One-time migration cost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0" y="275234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E2761"/>
                </a:solidFill>
              </a:rPr>
              <a:t>$15,000 (est.)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3840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TOTAL ANNUAL COST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3246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4CC"/>
                </a:solidFill>
              </a:rPr>
              <a:t>~$137K – $182K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840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090"/>
                </a:solidFill>
              </a:rPr>
              <a:t>Cloud-managed replicas (AWS RDS/Aurora or Azure)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607090"/>
                </a:solidFill>
              </a:rPr>
              <a:t>reduce DBA burden — no hardware CAPEX required.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0" y="822960"/>
            <a:ext cx="3840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0" y="822960"/>
            <a:ext cx="3840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 RISKS &amp; MITIGATION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1344168"/>
            <a:ext cx="3840480" cy="822960"/>
          </a:xfrm>
          <a:prstGeom prst="rect">
            <a:avLst/>
          </a:prstGeom>
          <a:solidFill>
            <a:srgbClr val="F8FAFF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74920" y="1417320"/>
            <a:ext cx="502920" cy="228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74920" y="14173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23560" y="1399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Eventual Consistency Lag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166420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Asynchronous replication means replicas can be 10–50ms stale. Route write-dependent reads to primary. Acceptable for analytics &amp; reporting.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0" y="2212848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74920" y="2286000"/>
            <a:ext cx="502920" cy="228600"/>
          </a:xfrm>
          <a:prstGeom prst="rect">
            <a:avLst/>
          </a:prstGeom>
          <a:solidFill>
            <a:srgbClr val="22A86E"/>
          </a:solidFill>
          <a:ln w="12700">
            <a:solidFill>
              <a:srgbClr val="22A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22860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623560" y="226771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Replication Lag at Scale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74920" y="253288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Monitor replication lag per replica. Auto-failover excludes lagging replicas from read pool. Cloud-managed services handle this automatically.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0" y="3081528"/>
            <a:ext cx="3840480" cy="822960"/>
          </a:xfrm>
          <a:prstGeom prst="rect">
            <a:avLst/>
          </a:prstGeom>
          <a:solidFill>
            <a:srgbClr val="F8FAFF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74920" y="3154680"/>
            <a:ext cx="502920" cy="228600"/>
          </a:xfrm>
          <a:prstGeom prst="rect">
            <a:avLst/>
          </a:prstGeom>
          <a:solidFill>
            <a:srgbClr val="22A86E"/>
          </a:solidFill>
          <a:ln w="12700">
            <a:solidFill>
              <a:srgbClr val="22A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74920" y="31546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23560" y="313639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Conflict Resolution (Multi-Primary Risk)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4920" y="340156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Proposal uses single-primary model — only 1 write node. Eliminates conflict resolution complexity entirely.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9200" y="3950208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074920" y="4023360"/>
            <a:ext cx="502920" cy="228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74920" y="402336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23560" y="400507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Operational Complexity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74920" y="427024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Managed cloud replicas (RDS Multi-AZ / Aurora Global) automate failover, backups &amp; patching. Net overhead is minimal.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ADCFC"/>
                </a:solidFill>
              </a:rPr>
              <a:t>RECOMMENDATION: Phase rollout — deploy 3 replicas in Q1, validate latency, then expand to full 10 by Q3. Limits risk while delivering early wins.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591</Words>
  <Application>Microsoft Office PowerPoint</Application>
  <PresentationFormat>On-screen Show (16:9)</PresentationFormat>
  <Paragraphs>90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Replication Expansion Proposal</dc:title>
  <dc:subject>PptxGenJS Presentation</dc:subject>
  <dc:creator>PptxGenJS</dc:creator>
  <cp:lastModifiedBy>Chandra Bhawan</cp:lastModifiedBy>
  <cp:revision>2</cp:revision>
  <dcterms:created xsi:type="dcterms:W3CDTF">2026-02-22T12:18:48Z</dcterms:created>
  <dcterms:modified xsi:type="dcterms:W3CDTF">2026-02-22T12:24:08Z</dcterms:modified>
</cp:coreProperties>
</file>